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9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Luca Villani…"/>
          <p:cNvSpPr txBox="1">
            <a:spLocks noGrp="1"/>
          </p:cNvSpPr>
          <p:nvPr>
            <p:ph type="body" idx="21"/>
          </p:nvPr>
        </p:nvSpPr>
        <p:spPr>
          <a:xfrm>
            <a:off x="4299643" y="11509020"/>
            <a:ext cx="2966141" cy="12970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algn="ctr"/>
            <a:r>
              <a:t>Luca Villani</a:t>
            </a:r>
          </a:p>
          <a:p>
            <a:pPr algn="ctr"/>
            <a:r>
              <a:t>Matr. 200412</a:t>
            </a:r>
          </a:p>
        </p:txBody>
      </p:sp>
      <p:sp>
        <p:nvSpPr>
          <p:cNvPr id="172" name="Chessy3D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Chessy3D</a:t>
            </a:r>
          </a:p>
        </p:txBody>
      </p:sp>
      <p:sp>
        <p:nvSpPr>
          <p:cNvPr id="173" name="Computer Vision and Cognitive Systems Project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Computer Vision and Cognitive Systems Project</a:t>
            </a:r>
          </a:p>
        </p:txBody>
      </p:sp>
      <p:sp>
        <p:nvSpPr>
          <p:cNvPr id="174" name="Alessandro Mezzogori…"/>
          <p:cNvSpPr txBox="1"/>
          <p:nvPr/>
        </p:nvSpPr>
        <p:spPr>
          <a:xfrm>
            <a:off x="7849963" y="11509020"/>
            <a:ext cx="5304611" cy="1297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600" b="1"/>
            </a:pPr>
            <a:r>
              <a:t>Alessandro Mezzogori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  <a:defRPr sz="3600" b="1"/>
            </a:pPr>
            <a:r>
              <a:t>Matr. 200559</a:t>
            </a:r>
          </a:p>
        </p:txBody>
      </p:sp>
      <p:sp>
        <p:nvSpPr>
          <p:cNvPr id="175" name="Davide Della Casa Venturelli…"/>
          <p:cNvSpPr txBox="1"/>
          <p:nvPr/>
        </p:nvSpPr>
        <p:spPr>
          <a:xfrm>
            <a:off x="13738754" y="11509020"/>
            <a:ext cx="6345603" cy="1297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600" b="1"/>
            </a:pPr>
            <a:r>
              <a:t>Davide Della Casa Venturelli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  <a:defRPr sz="3600" b="1"/>
            </a:pPr>
            <a:r>
              <a:t>Matr. 201103</a:t>
            </a:r>
          </a:p>
        </p:txBody>
      </p:sp>
      <p:pic>
        <p:nvPicPr>
          <p:cNvPr id="176" name="Immagine 10" descr="Immagin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8519" y="12488336"/>
            <a:ext cx="2869925" cy="11787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umma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Summary</a:t>
            </a:r>
          </a:p>
        </p:txBody>
      </p:sp>
      <p:sp>
        <p:nvSpPr>
          <p:cNvPr id="179" name="Our approach…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Our approach…</a:t>
            </a:r>
          </a:p>
        </p:txBody>
      </p:sp>
      <p:sp>
        <p:nvSpPr>
          <p:cNvPr id="180" name="Section I - Detecting chessboard corners and cell boundaries…"/>
          <p:cNvSpPr txBox="1">
            <a:spLocks noGrp="1"/>
          </p:cNvSpPr>
          <p:nvPr>
            <p:ph type="body" sz="half" idx="1"/>
          </p:nvPr>
        </p:nvSpPr>
        <p:spPr>
          <a:xfrm>
            <a:off x="1206499" y="4453228"/>
            <a:ext cx="21971001" cy="4809544"/>
          </a:xfrm>
          <a:prstGeom prst="rect">
            <a:avLst/>
          </a:prstGeom>
        </p:spPr>
        <p:txBody>
          <a:bodyPr/>
          <a:lstStyle/>
          <a:p>
            <a:r>
              <a:rPr dirty="0"/>
              <a:t>Section I - Detecting chessboard corners and cell boundaries</a:t>
            </a:r>
          </a:p>
          <a:p>
            <a:r>
              <a:rPr dirty="0"/>
              <a:t>Section II - Chess-piece detection pipeline</a:t>
            </a:r>
          </a:p>
          <a:p>
            <a:r>
              <a:rPr dirty="0"/>
              <a:t>Section III - FEN procedure</a:t>
            </a:r>
          </a:p>
          <a:p>
            <a:r>
              <a:rPr dirty="0"/>
              <a:t>Section IV - Chess image similarity search</a:t>
            </a:r>
          </a:p>
        </p:txBody>
      </p:sp>
      <p:pic>
        <p:nvPicPr>
          <p:cNvPr id="181" name="Immagine 10" descr="Immagin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8519" y="12488336"/>
            <a:ext cx="2869925" cy="11787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ection I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Section I</a:t>
            </a:r>
          </a:p>
        </p:txBody>
      </p:sp>
      <p:sp>
        <p:nvSpPr>
          <p:cNvPr id="184" name="Detecting chessboard corners and cells boundarie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Detecting chessboard corners and cells boundaries</a:t>
            </a:r>
          </a:p>
        </p:txBody>
      </p:sp>
      <p:pic>
        <p:nvPicPr>
          <p:cNvPr id="185" name="Immagine 10" descr="Immagin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8519" y="12488336"/>
            <a:ext cx="2869925" cy="11787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9899E9-4F50-03AA-1031-72731A545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240" y="5314212"/>
            <a:ext cx="8197670" cy="2377181"/>
          </a:xfrm>
          <a:prstGeom prst="rect">
            <a:avLst/>
          </a:prstGeom>
        </p:spPr>
      </p:pic>
      <p:sp>
        <p:nvSpPr>
          <p:cNvPr id="9" name="YOLO">
            <a:extLst>
              <a:ext uri="{FF2B5EF4-FFF2-40B4-BE49-F238E27FC236}">
                <a16:creationId xmlns:a16="http://schemas.microsoft.com/office/drawing/2014/main" id="{08C3647A-3CBB-C7A4-37CA-76E87EAC22BC}"/>
              </a:ext>
            </a:extLst>
          </p:cNvPr>
          <p:cNvSpPr txBox="1"/>
          <p:nvPr/>
        </p:nvSpPr>
        <p:spPr>
          <a:xfrm>
            <a:off x="6439623" y="9314168"/>
            <a:ext cx="11504753" cy="7673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>
              <a:defRPr b="1"/>
            </a:lvl1pPr>
          </a:lstStyle>
          <a:p>
            <a:r>
              <a:rPr lang="en-US" dirty="0"/>
              <a:t>Our choice: Top-Down Contour-Based</a:t>
            </a:r>
            <a:endParaRPr dirty="0"/>
          </a:p>
        </p:txBody>
      </p:sp>
      <p:sp>
        <p:nvSpPr>
          <p:cNvPr id="10" name="Our datasets">
            <a:extLst>
              <a:ext uri="{FF2B5EF4-FFF2-40B4-BE49-F238E27FC236}">
                <a16:creationId xmlns:a16="http://schemas.microsoft.com/office/drawing/2014/main" id="{5DE36F53-25E9-34B7-3178-4B63C94CEEE9}"/>
              </a:ext>
            </a:extLst>
          </p:cNvPr>
          <p:cNvSpPr txBox="1"/>
          <p:nvPr/>
        </p:nvSpPr>
        <p:spPr>
          <a:xfrm>
            <a:off x="2385943" y="4685658"/>
            <a:ext cx="4572761" cy="62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noAutofit/>
          </a:bodyPr>
          <a:lstStyle>
            <a:lvl1pPr>
              <a:defRPr sz="3500" i="1"/>
            </a:lvl1pPr>
          </a:lstStyle>
          <a:p>
            <a:r>
              <a:rPr lang="en-US" dirty="0"/>
              <a:t>Explored solutions</a:t>
            </a:r>
            <a:endParaRPr dirty="0"/>
          </a:p>
        </p:txBody>
      </p:sp>
      <p:sp>
        <p:nvSpPr>
          <p:cNvPr id="32" name="YOLO">
            <a:extLst>
              <a:ext uri="{FF2B5EF4-FFF2-40B4-BE49-F238E27FC236}">
                <a16:creationId xmlns:a16="http://schemas.microsoft.com/office/drawing/2014/main" id="{0C9FB963-36C2-006C-5A52-798D28F6537C}"/>
              </a:ext>
            </a:extLst>
          </p:cNvPr>
          <p:cNvSpPr txBox="1"/>
          <p:nvPr/>
        </p:nvSpPr>
        <p:spPr>
          <a:xfrm>
            <a:off x="13030010" y="5314212"/>
            <a:ext cx="6364543" cy="5180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>
              <a:defRPr b="1"/>
            </a:lvl1pPr>
          </a:lstStyle>
          <a:p>
            <a:r>
              <a:rPr lang="en-US" sz="3000" b="0" dirty="0"/>
              <a:t>All 4 corners have been found</a:t>
            </a:r>
          </a:p>
        </p:txBody>
      </p:sp>
      <p:sp>
        <p:nvSpPr>
          <p:cNvPr id="33" name="YOLO">
            <a:extLst>
              <a:ext uri="{FF2B5EF4-FFF2-40B4-BE49-F238E27FC236}">
                <a16:creationId xmlns:a16="http://schemas.microsoft.com/office/drawing/2014/main" id="{FA8ECC16-28BB-6C16-7878-4E73B0C21A08}"/>
              </a:ext>
            </a:extLst>
          </p:cNvPr>
          <p:cNvSpPr txBox="1"/>
          <p:nvPr/>
        </p:nvSpPr>
        <p:spPr>
          <a:xfrm>
            <a:off x="13030010" y="5874408"/>
            <a:ext cx="7464476" cy="13490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>
              <a:defRPr b="1"/>
            </a:lvl1pPr>
          </a:lstStyle>
          <a:p>
            <a:r>
              <a:rPr lang="en-US" sz="3000" b="0" dirty="0"/>
              <a:t>All corners must satisfy: the distance between predicted corner and the ground truth &lt;= 30 pixels</a:t>
            </a:r>
          </a:p>
        </p:txBody>
      </p:sp>
      <p:sp>
        <p:nvSpPr>
          <p:cNvPr id="34" name="YOLO">
            <a:extLst>
              <a:ext uri="{FF2B5EF4-FFF2-40B4-BE49-F238E27FC236}">
                <a16:creationId xmlns:a16="http://schemas.microsoft.com/office/drawing/2014/main" id="{78232339-DB96-989E-467F-FA9F173C6AA6}"/>
              </a:ext>
            </a:extLst>
          </p:cNvPr>
          <p:cNvSpPr txBox="1"/>
          <p:nvPr/>
        </p:nvSpPr>
        <p:spPr>
          <a:xfrm>
            <a:off x="13030010" y="4740889"/>
            <a:ext cx="8309113" cy="5180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>
              <a:defRPr b="1"/>
            </a:lvl1pPr>
          </a:lstStyle>
          <a:p>
            <a:r>
              <a:rPr lang="en-US" sz="3000" dirty="0"/>
              <a:t>Positive match for accuracy the calculation</a:t>
            </a:r>
          </a:p>
        </p:txBody>
      </p:sp>
      <p:sp>
        <p:nvSpPr>
          <p:cNvPr id="35" name="YOLO">
            <a:extLst>
              <a:ext uri="{FF2B5EF4-FFF2-40B4-BE49-F238E27FC236}">
                <a16:creationId xmlns:a16="http://schemas.microsoft.com/office/drawing/2014/main" id="{6BAE37DF-3D2E-6E5A-87A1-D90970022439}"/>
              </a:ext>
            </a:extLst>
          </p:cNvPr>
          <p:cNvSpPr txBox="1"/>
          <p:nvPr/>
        </p:nvSpPr>
        <p:spPr>
          <a:xfrm>
            <a:off x="13030010" y="7540627"/>
            <a:ext cx="5748320" cy="4349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>
              <a:defRPr b="1"/>
            </a:lvl1pPr>
          </a:lstStyle>
          <a:p>
            <a:r>
              <a:rPr lang="en-US" sz="2400" b="0" i="1" dirty="0"/>
              <a:t>Calculated over a dataset of 2k images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681C4-9A8C-019C-C9FB-66061E0E0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ection I">
            <a:extLst>
              <a:ext uri="{FF2B5EF4-FFF2-40B4-BE49-F238E27FC236}">
                <a16:creationId xmlns:a16="http://schemas.microsoft.com/office/drawing/2014/main" id="{E586F8B0-D886-359C-497E-0D707F8983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Section I</a:t>
            </a:r>
          </a:p>
        </p:txBody>
      </p:sp>
      <p:sp>
        <p:nvSpPr>
          <p:cNvPr id="184" name="Detecting chessboard corners and cells boundaries">
            <a:extLst>
              <a:ext uri="{FF2B5EF4-FFF2-40B4-BE49-F238E27FC236}">
                <a16:creationId xmlns:a16="http://schemas.microsoft.com/office/drawing/2014/main" id="{191C2B2D-B0D5-1B0D-3A9B-AA95095F95E1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Top-Down Contour-Based pipeline</a:t>
            </a:r>
            <a:endParaRPr dirty="0"/>
          </a:p>
        </p:txBody>
      </p:sp>
      <p:pic>
        <p:nvPicPr>
          <p:cNvPr id="185" name="Immagine 10" descr="Immagine 10">
            <a:extLst>
              <a:ext uri="{FF2B5EF4-FFF2-40B4-BE49-F238E27FC236}">
                <a16:creationId xmlns:a16="http://schemas.microsoft.com/office/drawing/2014/main" id="{4810064C-9E63-1CA4-3E4B-AC7778E57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8519" y="12488336"/>
            <a:ext cx="2869925" cy="11787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4E8A85-F924-29C2-D02D-806132F13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0715" y="6518672"/>
            <a:ext cx="3770580" cy="37809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A033B2-0B9F-99F5-D143-2D1EFE7A7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30723" y="6522659"/>
            <a:ext cx="3817578" cy="379660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C5E7571-D0BF-6042-AA61-F723819440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07731" y="6518650"/>
            <a:ext cx="3770580" cy="37653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4A9227B-0C38-D2DA-B9BB-7CC3128979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708" y="6531626"/>
            <a:ext cx="3786188" cy="37706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E89FE1E-8E20-00CC-4C96-948769F916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1538" y="6518650"/>
            <a:ext cx="3786187" cy="379660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7BEDCDE-F3C7-E878-5214-4A7DE71D1C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8476" y="6518650"/>
            <a:ext cx="3786187" cy="3801811"/>
          </a:xfrm>
          <a:prstGeom prst="rect">
            <a:avLst/>
          </a:prstGeom>
        </p:spPr>
      </p:pic>
      <p:sp>
        <p:nvSpPr>
          <p:cNvPr id="6" name="YOLO">
            <a:extLst>
              <a:ext uri="{FF2B5EF4-FFF2-40B4-BE49-F238E27FC236}">
                <a16:creationId xmlns:a16="http://schemas.microsoft.com/office/drawing/2014/main" id="{D807E6CC-3CEA-7491-BE84-56E9771BC10D}"/>
              </a:ext>
            </a:extLst>
          </p:cNvPr>
          <p:cNvSpPr txBox="1"/>
          <p:nvPr/>
        </p:nvSpPr>
        <p:spPr>
          <a:xfrm>
            <a:off x="1663452" y="5003940"/>
            <a:ext cx="2180413" cy="13490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>
              <a:defRPr b="1"/>
            </a:lvl1pPr>
          </a:lstStyle>
          <a:p>
            <a:r>
              <a:rPr lang="en-US" sz="3000" dirty="0"/>
              <a:t>Grayscale, Bilateral, Canny</a:t>
            </a:r>
            <a:endParaRPr sz="3000" dirty="0"/>
          </a:p>
        </p:txBody>
      </p:sp>
      <p:sp>
        <p:nvSpPr>
          <p:cNvPr id="7" name="YOLO">
            <a:extLst>
              <a:ext uri="{FF2B5EF4-FFF2-40B4-BE49-F238E27FC236}">
                <a16:creationId xmlns:a16="http://schemas.microsoft.com/office/drawing/2014/main" id="{EA501B51-7ABA-9780-AB87-6AE17E787C4D}"/>
              </a:ext>
            </a:extLst>
          </p:cNvPr>
          <p:cNvSpPr txBox="1"/>
          <p:nvPr/>
        </p:nvSpPr>
        <p:spPr>
          <a:xfrm>
            <a:off x="5251107" y="5419438"/>
            <a:ext cx="2495823" cy="5180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>
              <a:defRPr b="1"/>
            </a:lvl1pPr>
          </a:lstStyle>
          <a:p>
            <a:r>
              <a:rPr lang="en-US" sz="3000" dirty="0" err="1"/>
              <a:t>Homography</a:t>
            </a:r>
            <a:endParaRPr sz="3000" dirty="0"/>
          </a:p>
        </p:txBody>
      </p:sp>
      <p:sp>
        <p:nvSpPr>
          <p:cNvPr id="8" name="YOLO">
            <a:extLst>
              <a:ext uri="{FF2B5EF4-FFF2-40B4-BE49-F238E27FC236}">
                <a16:creationId xmlns:a16="http://schemas.microsoft.com/office/drawing/2014/main" id="{9AC99816-DE5B-6BF5-9902-A8EAE1612586}"/>
              </a:ext>
            </a:extLst>
          </p:cNvPr>
          <p:cNvSpPr txBox="1"/>
          <p:nvPr/>
        </p:nvSpPr>
        <p:spPr>
          <a:xfrm>
            <a:off x="9154173" y="4807387"/>
            <a:ext cx="2495823" cy="13490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>
              <a:defRPr b="1"/>
            </a:lvl1pPr>
          </a:lstStyle>
          <a:p>
            <a:r>
              <a:rPr lang="en-US" sz="3000" dirty="0"/>
              <a:t>Vertical and horizontal lines filtering</a:t>
            </a:r>
            <a:endParaRPr sz="3000" dirty="0"/>
          </a:p>
        </p:txBody>
      </p:sp>
      <p:sp>
        <p:nvSpPr>
          <p:cNvPr id="11" name="YOLO">
            <a:extLst>
              <a:ext uri="{FF2B5EF4-FFF2-40B4-BE49-F238E27FC236}">
                <a16:creationId xmlns:a16="http://schemas.microsoft.com/office/drawing/2014/main" id="{27289C74-D725-C5B7-64A1-C93AFB884D0D}"/>
              </a:ext>
            </a:extLst>
          </p:cNvPr>
          <p:cNvSpPr txBox="1"/>
          <p:nvPr/>
        </p:nvSpPr>
        <p:spPr>
          <a:xfrm>
            <a:off x="12796848" y="4807387"/>
            <a:ext cx="2992346" cy="13490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>
              <a:defRPr b="1"/>
            </a:lvl1pPr>
          </a:lstStyle>
          <a:p>
            <a:r>
              <a:rPr lang="en-US" sz="3000" dirty="0"/>
              <a:t>Line extension, Cleanup, Hough</a:t>
            </a:r>
            <a:endParaRPr sz="3000" dirty="0"/>
          </a:p>
        </p:txBody>
      </p:sp>
      <p:sp>
        <p:nvSpPr>
          <p:cNvPr id="12" name="YOLO">
            <a:extLst>
              <a:ext uri="{FF2B5EF4-FFF2-40B4-BE49-F238E27FC236}">
                <a16:creationId xmlns:a16="http://schemas.microsoft.com/office/drawing/2014/main" id="{74E5B326-1784-689F-A656-FED6D6ED95B8}"/>
              </a:ext>
            </a:extLst>
          </p:cNvPr>
          <p:cNvSpPr txBox="1"/>
          <p:nvPr/>
        </p:nvSpPr>
        <p:spPr>
          <a:xfrm>
            <a:off x="16743339" y="4601204"/>
            <a:ext cx="2992346" cy="17645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>
              <a:defRPr b="1"/>
            </a:lvl1pPr>
          </a:lstStyle>
          <a:p>
            <a:r>
              <a:rPr lang="en-US" sz="3000" dirty="0"/>
              <a:t>Find quads, Extract largest contour, Extract corners</a:t>
            </a:r>
          </a:p>
        </p:txBody>
      </p:sp>
      <p:sp>
        <p:nvSpPr>
          <p:cNvPr id="14" name="YOLO">
            <a:extLst>
              <a:ext uri="{FF2B5EF4-FFF2-40B4-BE49-F238E27FC236}">
                <a16:creationId xmlns:a16="http://schemas.microsoft.com/office/drawing/2014/main" id="{0B06FEEC-04DD-51A5-A28D-D5BC0A8DBE87}"/>
              </a:ext>
            </a:extLst>
          </p:cNvPr>
          <p:cNvSpPr txBox="1"/>
          <p:nvPr/>
        </p:nvSpPr>
        <p:spPr>
          <a:xfrm>
            <a:off x="20882537" y="5160393"/>
            <a:ext cx="2527424" cy="5180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>
              <a:defRPr b="1"/>
            </a:lvl1pPr>
          </a:lstStyle>
          <a:p>
            <a:r>
              <a:rPr lang="en-US" sz="3000" dirty="0"/>
              <a:t>Visualization</a:t>
            </a:r>
          </a:p>
        </p:txBody>
      </p:sp>
    </p:spTree>
    <p:extLst>
      <p:ext uri="{BB962C8B-B14F-4D97-AF65-F5344CB8AC3E}">
        <p14:creationId xmlns:p14="http://schemas.microsoft.com/office/powerpoint/2010/main" val="230882243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ection II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Section II</a:t>
            </a:r>
          </a:p>
        </p:txBody>
      </p:sp>
      <p:sp>
        <p:nvSpPr>
          <p:cNvPr id="188" name="Chess-piece detection pipelin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dirty="0"/>
              <a:t>Chess-piece detection pipeline</a:t>
            </a:r>
          </a:p>
        </p:txBody>
      </p:sp>
      <p:grpSp>
        <p:nvGrpSpPr>
          <p:cNvPr id="191" name="Group"/>
          <p:cNvGrpSpPr/>
          <p:nvPr/>
        </p:nvGrpSpPr>
        <p:grpSpPr>
          <a:xfrm>
            <a:off x="1244943" y="3875021"/>
            <a:ext cx="9494207" cy="1613585"/>
            <a:chOff x="0" y="0"/>
            <a:chExt cx="9494205" cy="1613583"/>
          </a:xfrm>
        </p:grpSpPr>
        <p:pic>
          <p:nvPicPr>
            <p:cNvPr id="189" name="Screenshot 2025-07-21 at 02.13.19.png" descr="Screenshot 2025-07-21 at 02.13.19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387" y="561270"/>
              <a:ext cx="9470819" cy="10523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90" name="Our datasets"/>
            <p:cNvSpPr txBox="1"/>
            <p:nvPr/>
          </p:nvSpPr>
          <p:spPr>
            <a:xfrm>
              <a:off x="0" y="0"/>
              <a:ext cx="2783817" cy="628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3500" i="1"/>
              </a:lvl1pPr>
            </a:lstStyle>
            <a:p>
              <a:r>
                <a:rPr dirty="0"/>
                <a:t>Our datasets</a:t>
              </a:r>
            </a:p>
          </p:txBody>
        </p:sp>
      </p:grpSp>
      <p:grpSp>
        <p:nvGrpSpPr>
          <p:cNvPr id="201" name="Group"/>
          <p:cNvGrpSpPr/>
          <p:nvPr/>
        </p:nvGrpSpPr>
        <p:grpSpPr>
          <a:xfrm>
            <a:off x="13644851" y="3805723"/>
            <a:ext cx="9982513" cy="2010611"/>
            <a:chOff x="0" y="0"/>
            <a:chExt cx="9982512" cy="2010609"/>
          </a:xfrm>
        </p:grpSpPr>
        <p:grpSp>
          <p:nvGrpSpPr>
            <p:cNvPr id="194" name="Group"/>
            <p:cNvGrpSpPr/>
            <p:nvPr/>
          </p:nvGrpSpPr>
          <p:grpSpPr>
            <a:xfrm>
              <a:off x="-1" y="364582"/>
              <a:ext cx="1773633" cy="1281445"/>
              <a:chOff x="0" y="0"/>
              <a:chExt cx="1773631" cy="1281444"/>
            </a:xfrm>
          </p:grpSpPr>
          <p:sp>
            <p:nvSpPr>
              <p:cNvPr id="192" name="DETR"/>
              <p:cNvSpPr txBox="1"/>
              <p:nvPr/>
            </p:nvSpPr>
            <p:spPr>
              <a:xfrm>
                <a:off x="0" y="230463"/>
                <a:ext cx="1773632" cy="8205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b="1"/>
                </a:lvl1pPr>
              </a:lstStyle>
              <a:p>
                <a:r>
                  <a:t>DETR</a:t>
                </a:r>
              </a:p>
            </p:txBody>
          </p:sp>
          <p:sp>
            <p:nvSpPr>
              <p:cNvPr id="193" name="Multiplication Sign"/>
              <p:cNvSpPr/>
              <p:nvPr/>
            </p:nvSpPr>
            <p:spPr>
              <a:xfrm>
                <a:off x="246093" y="0"/>
                <a:ext cx="1281445" cy="12814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77" h="21577" extrusionOk="0">
                    <a:moveTo>
                      <a:pt x="3398" y="1"/>
                    </a:moveTo>
                    <a:cubicBezTo>
                      <a:pt x="3368" y="1"/>
                      <a:pt x="3338" y="12"/>
                      <a:pt x="3315" y="35"/>
                    </a:cubicBezTo>
                    <a:lnTo>
                      <a:pt x="35" y="3315"/>
                    </a:lnTo>
                    <a:cubicBezTo>
                      <a:pt x="-11" y="3361"/>
                      <a:pt x="-11" y="3434"/>
                      <a:pt x="35" y="3480"/>
                    </a:cubicBezTo>
                    <a:lnTo>
                      <a:pt x="7290" y="10733"/>
                    </a:lnTo>
                    <a:cubicBezTo>
                      <a:pt x="7320" y="10764"/>
                      <a:pt x="7320" y="10813"/>
                      <a:pt x="7290" y="10843"/>
                    </a:cubicBezTo>
                    <a:lnTo>
                      <a:pt x="35" y="18098"/>
                    </a:lnTo>
                    <a:cubicBezTo>
                      <a:pt x="-11" y="18144"/>
                      <a:pt x="-11" y="18217"/>
                      <a:pt x="35" y="18263"/>
                    </a:cubicBezTo>
                    <a:lnTo>
                      <a:pt x="3315" y="21543"/>
                    </a:lnTo>
                    <a:cubicBezTo>
                      <a:pt x="3361" y="21589"/>
                      <a:pt x="3434" y="21589"/>
                      <a:pt x="3480" y="21543"/>
                    </a:cubicBezTo>
                    <a:lnTo>
                      <a:pt x="10733" y="14288"/>
                    </a:lnTo>
                    <a:cubicBezTo>
                      <a:pt x="10764" y="14258"/>
                      <a:pt x="10814" y="14258"/>
                      <a:pt x="10845" y="14288"/>
                    </a:cubicBezTo>
                    <a:lnTo>
                      <a:pt x="18098" y="21543"/>
                    </a:lnTo>
                    <a:cubicBezTo>
                      <a:pt x="18144" y="21589"/>
                      <a:pt x="18217" y="21589"/>
                      <a:pt x="18263" y="21543"/>
                    </a:cubicBezTo>
                    <a:lnTo>
                      <a:pt x="21543" y="18263"/>
                    </a:lnTo>
                    <a:cubicBezTo>
                      <a:pt x="21589" y="18217"/>
                      <a:pt x="21589" y="18144"/>
                      <a:pt x="21543" y="18098"/>
                    </a:cubicBezTo>
                    <a:lnTo>
                      <a:pt x="14288" y="10845"/>
                    </a:lnTo>
                    <a:cubicBezTo>
                      <a:pt x="14258" y="10814"/>
                      <a:pt x="14258" y="10764"/>
                      <a:pt x="14288" y="10733"/>
                    </a:cubicBezTo>
                    <a:lnTo>
                      <a:pt x="21543" y="3480"/>
                    </a:lnTo>
                    <a:cubicBezTo>
                      <a:pt x="21588" y="3434"/>
                      <a:pt x="21588" y="3360"/>
                      <a:pt x="21543" y="3315"/>
                    </a:cubicBezTo>
                    <a:lnTo>
                      <a:pt x="18263" y="35"/>
                    </a:lnTo>
                    <a:cubicBezTo>
                      <a:pt x="18217" y="-11"/>
                      <a:pt x="18144" y="-11"/>
                      <a:pt x="18098" y="35"/>
                    </a:cubicBezTo>
                    <a:lnTo>
                      <a:pt x="10845" y="7290"/>
                    </a:lnTo>
                    <a:cubicBezTo>
                      <a:pt x="10814" y="7320"/>
                      <a:pt x="10765" y="7320"/>
                      <a:pt x="10735" y="7290"/>
                    </a:cubicBezTo>
                    <a:lnTo>
                      <a:pt x="3480" y="35"/>
                    </a:lnTo>
                    <a:cubicBezTo>
                      <a:pt x="3457" y="12"/>
                      <a:pt x="3428" y="1"/>
                      <a:pt x="3398" y="1"/>
                    </a:cubicBezTo>
                    <a:close/>
                  </a:path>
                </a:pathLst>
              </a:custGeom>
              <a:solidFill>
                <a:srgbClr val="ED220D">
                  <a:alpha val="67989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sp>
          <p:nvSpPr>
            <p:cNvPr id="195" name="Arrow 11"/>
            <p:cNvSpPr/>
            <p:nvPr/>
          </p:nvSpPr>
          <p:spPr>
            <a:xfrm>
              <a:off x="2154986" y="628664"/>
              <a:ext cx="1000494" cy="753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469" y="0"/>
                  </a:moveTo>
                  <a:cubicBezTo>
                    <a:pt x="13010" y="0"/>
                    <a:pt x="12551" y="232"/>
                    <a:pt x="12200" y="697"/>
                  </a:cubicBezTo>
                  <a:cubicBezTo>
                    <a:pt x="11500" y="1626"/>
                    <a:pt x="11500" y="3135"/>
                    <a:pt x="12200" y="4065"/>
                  </a:cubicBezTo>
                  <a:lnTo>
                    <a:pt x="15479" y="8419"/>
                  </a:lnTo>
                  <a:lnTo>
                    <a:pt x="1793" y="8419"/>
                  </a:lnTo>
                  <a:cubicBezTo>
                    <a:pt x="802" y="8419"/>
                    <a:pt x="0" y="9485"/>
                    <a:pt x="0" y="10800"/>
                  </a:cubicBezTo>
                  <a:cubicBezTo>
                    <a:pt x="0" y="12115"/>
                    <a:pt x="802" y="13181"/>
                    <a:pt x="1793" y="13181"/>
                  </a:cubicBezTo>
                  <a:lnTo>
                    <a:pt x="15479" y="13181"/>
                  </a:lnTo>
                  <a:lnTo>
                    <a:pt x="12200" y="17535"/>
                  </a:lnTo>
                  <a:cubicBezTo>
                    <a:pt x="11500" y="18465"/>
                    <a:pt x="11500" y="19974"/>
                    <a:pt x="12200" y="20903"/>
                  </a:cubicBezTo>
                  <a:cubicBezTo>
                    <a:pt x="12551" y="21368"/>
                    <a:pt x="13010" y="21600"/>
                    <a:pt x="13469" y="21600"/>
                  </a:cubicBezTo>
                  <a:cubicBezTo>
                    <a:pt x="13927" y="21600"/>
                    <a:pt x="14387" y="21368"/>
                    <a:pt x="14737" y="20903"/>
                  </a:cubicBezTo>
                  <a:lnTo>
                    <a:pt x="21074" y="12484"/>
                  </a:lnTo>
                  <a:cubicBezTo>
                    <a:pt x="21424" y="12019"/>
                    <a:pt x="21600" y="11409"/>
                    <a:pt x="21600" y="10800"/>
                  </a:cubicBezTo>
                  <a:cubicBezTo>
                    <a:pt x="21600" y="10191"/>
                    <a:pt x="21424" y="9581"/>
                    <a:pt x="21074" y="9116"/>
                  </a:cubicBezTo>
                  <a:lnTo>
                    <a:pt x="14737" y="697"/>
                  </a:lnTo>
                  <a:cubicBezTo>
                    <a:pt x="14387" y="232"/>
                    <a:pt x="13927" y="0"/>
                    <a:pt x="13469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6" name="YOLO"/>
            <p:cNvSpPr txBox="1"/>
            <p:nvPr/>
          </p:nvSpPr>
          <p:spPr>
            <a:xfrm>
              <a:off x="3536833" y="595046"/>
              <a:ext cx="1830935" cy="8205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/>
              </a:lvl1pPr>
            </a:lstStyle>
            <a:p>
              <a:r>
                <a:rPr dirty="0"/>
                <a:t>YOLO</a:t>
              </a:r>
            </a:p>
          </p:txBody>
        </p:sp>
        <p:sp>
          <p:nvSpPr>
            <p:cNvPr id="197" name="PRO"/>
            <p:cNvSpPr txBox="1"/>
            <p:nvPr/>
          </p:nvSpPr>
          <p:spPr>
            <a:xfrm>
              <a:off x="6121077" y="0"/>
              <a:ext cx="939928" cy="5604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 b="1"/>
              </a:lvl1pPr>
            </a:lstStyle>
            <a:p>
              <a:r>
                <a:rPr dirty="0"/>
                <a:t>PRO</a:t>
              </a:r>
            </a:p>
          </p:txBody>
        </p:sp>
        <p:sp>
          <p:nvSpPr>
            <p:cNvPr id="198" name="Global model"/>
            <p:cNvSpPr txBox="1"/>
            <p:nvPr/>
          </p:nvSpPr>
          <p:spPr>
            <a:xfrm>
              <a:off x="6121077" y="506662"/>
              <a:ext cx="2386585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rPr dirty="0"/>
                <a:t>Global model</a:t>
              </a:r>
            </a:p>
          </p:txBody>
        </p:sp>
        <p:sp>
          <p:nvSpPr>
            <p:cNvPr id="199" name="No empty class"/>
            <p:cNvSpPr txBox="1"/>
            <p:nvPr/>
          </p:nvSpPr>
          <p:spPr>
            <a:xfrm>
              <a:off x="6121077" y="960087"/>
              <a:ext cx="2760727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rPr dirty="0"/>
                <a:t>No empty class</a:t>
              </a:r>
            </a:p>
          </p:txBody>
        </p:sp>
        <p:sp>
          <p:nvSpPr>
            <p:cNvPr id="200" name="No duplicated objects"/>
            <p:cNvSpPr txBox="1"/>
            <p:nvPr/>
          </p:nvSpPr>
          <p:spPr>
            <a:xfrm>
              <a:off x="6121077" y="1462477"/>
              <a:ext cx="3861436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r>
                <a:rPr dirty="0"/>
                <a:t>No duplicated objects</a:t>
              </a:r>
            </a:p>
          </p:txBody>
        </p:sp>
      </p:grpSp>
      <p:grpSp>
        <p:nvGrpSpPr>
          <p:cNvPr id="206" name="Group"/>
          <p:cNvGrpSpPr/>
          <p:nvPr/>
        </p:nvGrpSpPr>
        <p:grpSpPr>
          <a:xfrm>
            <a:off x="1200654" y="6536585"/>
            <a:ext cx="11134367" cy="6166520"/>
            <a:chOff x="0" y="0"/>
            <a:chExt cx="11134366" cy="6166518"/>
          </a:xfrm>
        </p:grpSpPr>
        <p:grpSp>
          <p:nvGrpSpPr>
            <p:cNvPr id="204" name="Group"/>
            <p:cNvGrpSpPr/>
            <p:nvPr/>
          </p:nvGrpSpPr>
          <p:grpSpPr>
            <a:xfrm>
              <a:off x="0" y="607428"/>
              <a:ext cx="11134367" cy="5559091"/>
              <a:chOff x="0" y="0"/>
              <a:chExt cx="11134366" cy="5559090"/>
            </a:xfrm>
          </p:grpSpPr>
          <p:pic>
            <p:nvPicPr>
              <p:cNvPr id="202" name="merged-dataset-800epochs.png" descr="merged-dataset-800epochs.png"/>
              <p:cNvPicPr>
                <a:picLocks noChangeAspect="1"/>
              </p:cNvPicPr>
              <p:nvPr/>
            </p:nvPicPr>
            <p:blipFill>
              <a:blip r:embed="rId3"/>
              <a:srcRect l="1894" t="56385" r="1894" b="3334"/>
              <a:stretch>
                <a:fillRect/>
              </a:stretch>
            </p:blipFill>
            <p:spPr>
              <a:xfrm>
                <a:off x="18" y="3305088"/>
                <a:ext cx="11134247" cy="225400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03" name="merged-dataset-runs.png" descr="merged-dataset-runs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1134367" cy="3228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205" name="How was the training"/>
            <p:cNvSpPr txBox="1"/>
            <p:nvPr/>
          </p:nvSpPr>
          <p:spPr>
            <a:xfrm>
              <a:off x="25694" y="0"/>
              <a:ext cx="4271710" cy="6098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500" i="1"/>
              </a:lvl1pPr>
            </a:lstStyle>
            <a:p>
              <a:r>
                <a:t>How was the training</a:t>
              </a:r>
            </a:p>
          </p:txBody>
        </p:sp>
      </p:grpSp>
      <p:grpSp>
        <p:nvGrpSpPr>
          <p:cNvPr id="209" name="Group"/>
          <p:cNvGrpSpPr/>
          <p:nvPr/>
        </p:nvGrpSpPr>
        <p:grpSpPr>
          <a:xfrm>
            <a:off x="12877634" y="9017695"/>
            <a:ext cx="10553995" cy="1790983"/>
            <a:chOff x="0" y="11258"/>
            <a:chExt cx="10553994" cy="1790981"/>
          </a:xfrm>
        </p:grpSpPr>
        <p:pic>
          <p:nvPicPr>
            <p:cNvPr id="207" name="Screenshot 2025-07-21 at 02.22.47.png" descr="Screenshot 2025-07-21 at 02.22.47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766" y="716029"/>
              <a:ext cx="10510228" cy="10862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8" name="Our final validation losses"/>
            <p:cNvSpPr txBox="1"/>
            <p:nvPr/>
          </p:nvSpPr>
          <p:spPr>
            <a:xfrm>
              <a:off x="0" y="11258"/>
              <a:ext cx="3247684" cy="5873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500" i="1"/>
              </a:lvl1pPr>
            </a:lstStyle>
            <a:p>
              <a:r>
                <a:rPr dirty="0"/>
                <a:t>Our final </a:t>
              </a:r>
              <a:r>
                <a:rPr lang="en-US" dirty="0"/>
                <a:t>results</a:t>
              </a:r>
              <a:endParaRPr dirty="0"/>
            </a:p>
          </p:txBody>
        </p:sp>
      </p:grpSp>
      <p:sp>
        <p:nvSpPr>
          <p:cNvPr id="210" name="Output"/>
          <p:cNvSpPr txBox="1"/>
          <p:nvPr/>
        </p:nvSpPr>
        <p:spPr>
          <a:xfrm>
            <a:off x="17309108" y="6039039"/>
            <a:ext cx="1408685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Output</a:t>
            </a:r>
          </a:p>
        </p:txBody>
      </p:sp>
      <p:sp>
        <p:nvSpPr>
          <p:cNvPr id="211" name="Arrow 7"/>
          <p:cNvSpPr/>
          <p:nvPr/>
        </p:nvSpPr>
        <p:spPr>
          <a:xfrm>
            <a:off x="19634560" y="6516817"/>
            <a:ext cx="813673" cy="10412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233" y="21600"/>
                </a:moveTo>
                <a:lnTo>
                  <a:pt x="21600" y="13782"/>
                </a:lnTo>
                <a:lnTo>
                  <a:pt x="17473" y="13782"/>
                </a:lnTo>
                <a:cubicBezTo>
                  <a:pt x="17473" y="13740"/>
                  <a:pt x="17475" y="13696"/>
                  <a:pt x="17475" y="13654"/>
                </a:cubicBezTo>
                <a:cubicBezTo>
                  <a:pt x="17475" y="6113"/>
                  <a:pt x="9652" y="0"/>
                  <a:pt x="2" y="0"/>
                </a:cubicBezTo>
                <a:cubicBezTo>
                  <a:pt x="2" y="0"/>
                  <a:pt x="0" y="0"/>
                  <a:pt x="0" y="0"/>
                </a:cubicBezTo>
                <a:lnTo>
                  <a:pt x="0" y="5044"/>
                </a:lnTo>
                <a:cubicBezTo>
                  <a:pt x="0" y="5044"/>
                  <a:pt x="2" y="5044"/>
                  <a:pt x="2" y="5044"/>
                </a:cubicBezTo>
                <a:cubicBezTo>
                  <a:pt x="6088" y="5044"/>
                  <a:pt x="11022" y="8898"/>
                  <a:pt x="11022" y="13654"/>
                </a:cubicBezTo>
                <a:cubicBezTo>
                  <a:pt x="11022" y="13697"/>
                  <a:pt x="11018" y="13740"/>
                  <a:pt x="11018" y="13782"/>
                </a:cubicBezTo>
                <a:lnTo>
                  <a:pt x="6864" y="13782"/>
                </a:lnTo>
                <a:lnTo>
                  <a:pt x="14233" y="2160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12" name="Arrow 7"/>
          <p:cNvSpPr/>
          <p:nvPr/>
        </p:nvSpPr>
        <p:spPr>
          <a:xfrm flipH="1">
            <a:off x="15578669" y="6516817"/>
            <a:ext cx="813673" cy="10412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233" y="21600"/>
                </a:moveTo>
                <a:lnTo>
                  <a:pt x="21600" y="13782"/>
                </a:lnTo>
                <a:lnTo>
                  <a:pt x="17473" y="13782"/>
                </a:lnTo>
                <a:cubicBezTo>
                  <a:pt x="17473" y="13740"/>
                  <a:pt x="17475" y="13696"/>
                  <a:pt x="17475" y="13654"/>
                </a:cubicBezTo>
                <a:cubicBezTo>
                  <a:pt x="17475" y="6113"/>
                  <a:pt x="9652" y="0"/>
                  <a:pt x="2" y="0"/>
                </a:cubicBezTo>
                <a:cubicBezTo>
                  <a:pt x="2" y="0"/>
                  <a:pt x="0" y="0"/>
                  <a:pt x="0" y="0"/>
                </a:cubicBezTo>
                <a:lnTo>
                  <a:pt x="0" y="5044"/>
                </a:lnTo>
                <a:cubicBezTo>
                  <a:pt x="0" y="5044"/>
                  <a:pt x="2" y="5044"/>
                  <a:pt x="2" y="5044"/>
                </a:cubicBezTo>
                <a:cubicBezTo>
                  <a:pt x="6088" y="5044"/>
                  <a:pt x="11022" y="8898"/>
                  <a:pt x="11022" y="13654"/>
                </a:cubicBezTo>
                <a:cubicBezTo>
                  <a:pt x="11022" y="13697"/>
                  <a:pt x="11018" y="13740"/>
                  <a:pt x="11018" y="13782"/>
                </a:cubicBezTo>
                <a:lnTo>
                  <a:pt x="6864" y="13782"/>
                </a:lnTo>
                <a:lnTo>
                  <a:pt x="14233" y="2160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13" name="class"/>
          <p:cNvSpPr txBox="1"/>
          <p:nvPr/>
        </p:nvSpPr>
        <p:spPr>
          <a:xfrm>
            <a:off x="15373000" y="7588116"/>
            <a:ext cx="1272556" cy="518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3000" i="1"/>
            </a:lvl1pPr>
          </a:lstStyle>
          <a:p>
            <a:r>
              <a:rPr dirty="0"/>
              <a:t>class</a:t>
            </a:r>
          </a:p>
        </p:txBody>
      </p:sp>
      <p:sp>
        <p:nvSpPr>
          <p:cNvPr id="214" name="confidence score"/>
          <p:cNvSpPr txBox="1"/>
          <p:nvPr/>
        </p:nvSpPr>
        <p:spPr>
          <a:xfrm>
            <a:off x="16495547" y="8021121"/>
            <a:ext cx="3035809" cy="518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3000" i="1"/>
            </a:lvl1pPr>
          </a:lstStyle>
          <a:p>
            <a:r>
              <a:t>confidence score</a:t>
            </a:r>
          </a:p>
        </p:txBody>
      </p:sp>
      <p:sp>
        <p:nvSpPr>
          <p:cNvPr id="215" name="bbox"/>
          <p:cNvSpPr txBox="1"/>
          <p:nvPr/>
        </p:nvSpPr>
        <p:spPr>
          <a:xfrm>
            <a:off x="19640290" y="7588116"/>
            <a:ext cx="968122" cy="518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3000" i="1"/>
            </a:lvl1pPr>
          </a:lstStyle>
          <a:p>
            <a:r>
              <a:t>bbox</a:t>
            </a:r>
          </a:p>
        </p:txBody>
      </p:sp>
      <p:sp>
        <p:nvSpPr>
          <p:cNvPr id="216" name="Arrow 11"/>
          <p:cNvSpPr/>
          <p:nvPr/>
        </p:nvSpPr>
        <p:spPr>
          <a:xfrm rot="5400000">
            <a:off x="17529580" y="6919833"/>
            <a:ext cx="967742" cy="728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469" y="0"/>
                </a:moveTo>
                <a:cubicBezTo>
                  <a:pt x="13010" y="0"/>
                  <a:pt x="12551" y="232"/>
                  <a:pt x="12200" y="697"/>
                </a:cubicBezTo>
                <a:cubicBezTo>
                  <a:pt x="11500" y="1626"/>
                  <a:pt x="11500" y="3135"/>
                  <a:pt x="12200" y="4065"/>
                </a:cubicBezTo>
                <a:lnTo>
                  <a:pt x="15479" y="8419"/>
                </a:lnTo>
                <a:lnTo>
                  <a:pt x="1793" y="8419"/>
                </a:lnTo>
                <a:cubicBezTo>
                  <a:pt x="802" y="8419"/>
                  <a:pt x="0" y="9485"/>
                  <a:pt x="0" y="10800"/>
                </a:cubicBezTo>
                <a:cubicBezTo>
                  <a:pt x="0" y="12115"/>
                  <a:pt x="802" y="13181"/>
                  <a:pt x="1793" y="13181"/>
                </a:cubicBezTo>
                <a:lnTo>
                  <a:pt x="15479" y="13181"/>
                </a:lnTo>
                <a:lnTo>
                  <a:pt x="12200" y="17535"/>
                </a:lnTo>
                <a:cubicBezTo>
                  <a:pt x="11500" y="18465"/>
                  <a:pt x="11500" y="19974"/>
                  <a:pt x="12200" y="20903"/>
                </a:cubicBezTo>
                <a:cubicBezTo>
                  <a:pt x="12551" y="21368"/>
                  <a:pt x="13010" y="21600"/>
                  <a:pt x="13469" y="21600"/>
                </a:cubicBezTo>
                <a:cubicBezTo>
                  <a:pt x="13927" y="21600"/>
                  <a:pt x="14387" y="21368"/>
                  <a:pt x="14737" y="20903"/>
                </a:cubicBezTo>
                <a:lnTo>
                  <a:pt x="21074" y="12484"/>
                </a:lnTo>
                <a:cubicBezTo>
                  <a:pt x="21424" y="12019"/>
                  <a:pt x="21600" y="11409"/>
                  <a:pt x="21600" y="10800"/>
                </a:cubicBezTo>
                <a:cubicBezTo>
                  <a:pt x="21600" y="10191"/>
                  <a:pt x="21424" y="9581"/>
                  <a:pt x="21074" y="9116"/>
                </a:cubicBezTo>
                <a:lnTo>
                  <a:pt x="14737" y="697"/>
                </a:lnTo>
                <a:cubicBezTo>
                  <a:pt x="14387" y="232"/>
                  <a:pt x="13927" y="0"/>
                  <a:pt x="13469" y="0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217" name="Immagine 10" descr="Immagin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68519" y="12488336"/>
            <a:ext cx="2869925" cy="11787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C052EC-5B62-E27B-7A26-0F29F37F53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84869" y="10909244"/>
            <a:ext cx="8590885" cy="191034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ection III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Section III</a:t>
            </a:r>
          </a:p>
        </p:txBody>
      </p:sp>
      <p:sp>
        <p:nvSpPr>
          <p:cNvPr id="220" name="FEN procedur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dirty="0"/>
              <a:t>FEN procedure</a:t>
            </a:r>
          </a:p>
        </p:txBody>
      </p:sp>
      <p:pic>
        <p:nvPicPr>
          <p:cNvPr id="221" name="Immagine 10" descr="Immagin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8519" y="12488336"/>
            <a:ext cx="2869925" cy="117872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C4B98F-0DDE-5462-6A5F-DAEF789CB5C5}"/>
              </a:ext>
            </a:extLst>
          </p:cNvPr>
          <p:cNvSpPr txBox="1"/>
          <p:nvPr/>
        </p:nvSpPr>
        <p:spPr>
          <a:xfrm>
            <a:off x="18725560" y="6516855"/>
            <a:ext cx="3300584" cy="10895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it-IT" sz="2400" b="0" i="1" u="none" strike="noStrike" baseline="0" dirty="0" err="1">
                <a:latin typeface="NimbusRomNo9L-ReguItal"/>
              </a:rPr>
              <a:t>rnbqkbnr</a:t>
            </a:r>
            <a:r>
              <a:rPr lang="it-IT" sz="2400" b="0" i="1" u="none" strike="noStrike" baseline="0" dirty="0">
                <a:latin typeface="NimbusRomNo9L-ReguItal"/>
              </a:rPr>
              <a:t>/</a:t>
            </a:r>
            <a:r>
              <a:rPr lang="it-IT" sz="2400" b="0" i="1" u="none" strike="noStrike" baseline="0" dirty="0" err="1">
                <a:latin typeface="NimbusRomNo9L-ReguItal"/>
              </a:rPr>
              <a:t>pppppppp</a:t>
            </a:r>
            <a:r>
              <a:rPr lang="it-IT" sz="2400" b="0" i="1" u="none" strike="noStrike" baseline="0" dirty="0">
                <a:latin typeface="NimbusRomNo9L-ReguItal"/>
              </a:rPr>
              <a:t>/8/8/8/8/PPPPPPPP/RNBQKBNR w </a:t>
            </a:r>
            <a:r>
              <a:rPr lang="it-IT" sz="2400" b="0" i="1" u="none" strike="noStrike" baseline="0" dirty="0" err="1">
                <a:latin typeface="NimbusRomNo9L-ReguItal"/>
              </a:rPr>
              <a:t>KQkq</a:t>
            </a:r>
            <a:r>
              <a:rPr lang="it-IT" sz="2400" b="0" i="1" u="none" strike="noStrike" baseline="0" dirty="0">
                <a:latin typeface="NimbusRomNo9L-ReguItal"/>
              </a:rPr>
              <a:t> - 0 1</a:t>
            </a:r>
            <a:endParaRPr lang="it-IT" sz="2400" i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60CA7B-131D-5F8B-7408-4E825725258E}"/>
              </a:ext>
            </a:extLst>
          </p:cNvPr>
          <p:cNvSpPr/>
          <p:nvPr/>
        </p:nvSpPr>
        <p:spPr>
          <a:xfrm>
            <a:off x="6075387" y="4415302"/>
            <a:ext cx="4276165" cy="1087477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Object detection bounding boxes</a:t>
            </a:r>
            <a:endParaRPr kumimoji="0" lang="it-IT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5D5D22-33A2-622C-6BEB-B52973EC8AF6}"/>
              </a:ext>
            </a:extLst>
          </p:cNvPr>
          <p:cNvSpPr/>
          <p:nvPr/>
        </p:nvSpPr>
        <p:spPr>
          <a:xfrm>
            <a:off x="6075385" y="5754120"/>
            <a:ext cx="4276165" cy="1087477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Object detection classes</a:t>
            </a:r>
            <a:endParaRPr kumimoji="0" lang="it-IT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3360A2E-5C22-CA3A-B0C3-D4F9C710475D}"/>
              </a:ext>
            </a:extLst>
          </p:cNvPr>
          <p:cNvSpPr/>
          <p:nvPr/>
        </p:nvSpPr>
        <p:spPr>
          <a:xfrm>
            <a:off x="6075386" y="7615662"/>
            <a:ext cx="4276165" cy="1087477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Detected grid cells bounding boxes</a:t>
            </a:r>
            <a:endParaRPr kumimoji="0" lang="it-IT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E9CE95-1EE7-AB8E-A377-88EFF1409135}"/>
              </a:ext>
            </a:extLst>
          </p:cNvPr>
          <p:cNvSpPr/>
          <p:nvPr/>
        </p:nvSpPr>
        <p:spPr>
          <a:xfrm>
            <a:off x="13448857" y="5022141"/>
            <a:ext cx="4276165" cy="1087477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Pieces positions assignment</a:t>
            </a:r>
            <a:endParaRPr kumimoji="0" lang="it-IT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EFFB965-FF67-E5D5-0D0E-7A6BCB98CA58}"/>
              </a:ext>
            </a:extLst>
          </p:cNvPr>
          <p:cNvSpPr/>
          <p:nvPr/>
        </p:nvSpPr>
        <p:spPr>
          <a:xfrm>
            <a:off x="2269881" y="5043178"/>
            <a:ext cx="2262841" cy="1087477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Object detection</a:t>
            </a:r>
            <a:endParaRPr kumimoji="0" lang="it-IT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C249B76-AF50-635A-F6AD-489EB6DD0A5D}"/>
              </a:ext>
            </a:extLst>
          </p:cNvPr>
          <p:cNvSpPr/>
          <p:nvPr/>
        </p:nvSpPr>
        <p:spPr>
          <a:xfrm>
            <a:off x="2269880" y="7615661"/>
            <a:ext cx="2262841" cy="1087477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Grid cells detection</a:t>
            </a:r>
            <a:endParaRPr kumimoji="0" lang="it-IT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AA71017C-7127-07E7-C5FC-F35490954A8D}"/>
              </a:ext>
            </a:extLst>
          </p:cNvPr>
          <p:cNvCxnSpPr>
            <a:cxnSpLocks/>
            <a:stCxn id="38" idx="3"/>
            <a:endCxn id="29" idx="1"/>
          </p:cNvCxnSpPr>
          <p:nvPr/>
        </p:nvCxnSpPr>
        <p:spPr>
          <a:xfrm flipV="1">
            <a:off x="4532722" y="4959041"/>
            <a:ext cx="1542665" cy="627876"/>
          </a:xfrm>
          <a:prstGeom prst="bentConnector3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096816AB-5AEB-A238-4316-5DE17E107618}"/>
              </a:ext>
            </a:extLst>
          </p:cNvPr>
          <p:cNvCxnSpPr>
            <a:cxnSpLocks/>
            <a:stCxn id="38" idx="3"/>
            <a:endCxn id="30" idx="1"/>
          </p:cNvCxnSpPr>
          <p:nvPr/>
        </p:nvCxnSpPr>
        <p:spPr>
          <a:xfrm>
            <a:off x="4532722" y="5586917"/>
            <a:ext cx="1542663" cy="710942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0DF877CA-B949-82C4-081F-F027D203777A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10351552" y="4959041"/>
            <a:ext cx="3097305" cy="424159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2F35D462-24C0-2CBA-9EA6-240B981B609D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10351550" y="5754120"/>
            <a:ext cx="3097307" cy="543739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7" name="Connector: Elbow 196">
            <a:extLst>
              <a:ext uri="{FF2B5EF4-FFF2-40B4-BE49-F238E27FC236}">
                <a16:creationId xmlns:a16="http://schemas.microsoft.com/office/drawing/2014/main" id="{B92EF300-A64F-16C1-6ACF-AB1878C75E10}"/>
              </a:ext>
            </a:extLst>
          </p:cNvPr>
          <p:cNvCxnSpPr>
            <a:cxnSpLocks/>
            <a:stCxn id="31" idx="3"/>
            <a:endCxn id="37" idx="2"/>
          </p:cNvCxnSpPr>
          <p:nvPr/>
        </p:nvCxnSpPr>
        <p:spPr>
          <a:xfrm flipV="1">
            <a:off x="10351551" y="6109618"/>
            <a:ext cx="5235389" cy="2049783"/>
          </a:xfrm>
          <a:prstGeom prst="bentConnector2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F4573A70-F306-0918-15F5-BDBD66F8BC76}"/>
              </a:ext>
            </a:extLst>
          </p:cNvPr>
          <p:cNvCxnSpPr>
            <a:cxnSpLocks/>
            <a:stCxn id="39" idx="3"/>
            <a:endCxn id="31" idx="1"/>
          </p:cNvCxnSpPr>
          <p:nvPr/>
        </p:nvCxnSpPr>
        <p:spPr>
          <a:xfrm>
            <a:off x="4532721" y="8159400"/>
            <a:ext cx="1542665" cy="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6" name="Rectangle 205">
            <a:extLst>
              <a:ext uri="{FF2B5EF4-FFF2-40B4-BE49-F238E27FC236}">
                <a16:creationId xmlns:a16="http://schemas.microsoft.com/office/drawing/2014/main" id="{CDF05068-D397-DEBC-9E63-8DA91FF193D4}"/>
              </a:ext>
            </a:extLst>
          </p:cNvPr>
          <p:cNvSpPr/>
          <p:nvPr/>
        </p:nvSpPr>
        <p:spPr>
          <a:xfrm>
            <a:off x="18993527" y="5022140"/>
            <a:ext cx="2474992" cy="1087477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Fen annotation</a:t>
            </a:r>
            <a:endParaRPr kumimoji="0" lang="it-IT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8CAF539D-ADAE-862A-4EB1-FC082271F36F}"/>
              </a:ext>
            </a:extLst>
          </p:cNvPr>
          <p:cNvCxnSpPr>
            <a:cxnSpLocks/>
            <a:stCxn id="37" idx="3"/>
            <a:endCxn id="206" idx="1"/>
          </p:cNvCxnSpPr>
          <p:nvPr/>
        </p:nvCxnSpPr>
        <p:spPr>
          <a:xfrm flipV="1">
            <a:off x="17725022" y="5565879"/>
            <a:ext cx="1268505" cy="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5" name="Our datasets">
            <a:extLst>
              <a:ext uri="{FF2B5EF4-FFF2-40B4-BE49-F238E27FC236}">
                <a16:creationId xmlns:a16="http://schemas.microsoft.com/office/drawing/2014/main" id="{D5CAEA3C-CF1F-D712-9B5B-2967EFB809AE}"/>
              </a:ext>
            </a:extLst>
          </p:cNvPr>
          <p:cNvSpPr txBox="1"/>
          <p:nvPr/>
        </p:nvSpPr>
        <p:spPr>
          <a:xfrm>
            <a:off x="4802398" y="9411289"/>
            <a:ext cx="13767990" cy="13904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noAutofit/>
          </a:bodyPr>
          <a:lstStyle>
            <a:lvl1pPr>
              <a:defRPr sz="3500" i="1"/>
            </a:lvl1pPr>
          </a:lstStyle>
          <a:p>
            <a:r>
              <a:rPr lang="en-US" sz="2400" dirty="0"/>
              <a:t>Matching grid cells using a scaled point at 30px from the base of the detected object bounding box</a:t>
            </a:r>
            <a:endParaRPr sz="2400" dirty="0"/>
          </a:p>
        </p:txBody>
      </p:sp>
      <p:sp>
        <p:nvSpPr>
          <p:cNvPr id="216" name="Our datasets">
            <a:extLst>
              <a:ext uri="{FF2B5EF4-FFF2-40B4-BE49-F238E27FC236}">
                <a16:creationId xmlns:a16="http://schemas.microsoft.com/office/drawing/2014/main" id="{58585CCA-AFBD-0830-0BA3-F3E06B9C0B13}"/>
              </a:ext>
            </a:extLst>
          </p:cNvPr>
          <p:cNvSpPr txBox="1"/>
          <p:nvPr/>
        </p:nvSpPr>
        <p:spPr>
          <a:xfrm>
            <a:off x="10467087" y="7528424"/>
            <a:ext cx="1486904" cy="6523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noAutofit/>
          </a:bodyPr>
          <a:lstStyle>
            <a:lvl1pPr>
              <a:defRPr sz="3500" i="1"/>
            </a:lvl1pPr>
          </a:lstStyle>
          <a:p>
            <a:r>
              <a:rPr lang="en-US" sz="2400" dirty="0"/>
              <a:t>~64 cells</a:t>
            </a:r>
            <a:endParaRPr sz="2400" dirty="0"/>
          </a:p>
        </p:txBody>
      </p:sp>
      <p:sp>
        <p:nvSpPr>
          <p:cNvPr id="217" name="Our datasets">
            <a:extLst>
              <a:ext uri="{FF2B5EF4-FFF2-40B4-BE49-F238E27FC236}">
                <a16:creationId xmlns:a16="http://schemas.microsoft.com/office/drawing/2014/main" id="{2DA580E8-BD7C-124B-0DCA-C3387DB6BA06}"/>
              </a:ext>
            </a:extLst>
          </p:cNvPr>
          <p:cNvSpPr txBox="1"/>
          <p:nvPr/>
        </p:nvSpPr>
        <p:spPr>
          <a:xfrm>
            <a:off x="10409259" y="5302300"/>
            <a:ext cx="1426880" cy="6523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noAutofit/>
          </a:bodyPr>
          <a:lstStyle>
            <a:lvl1pPr>
              <a:defRPr sz="3500" i="1"/>
            </a:lvl1pPr>
          </a:lstStyle>
          <a:p>
            <a:pPr algn="ctr"/>
            <a:r>
              <a:rPr lang="en-US" sz="2400" dirty="0"/>
              <a:t>0-32  pieces</a:t>
            </a:r>
            <a:endParaRPr sz="2400"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ection IV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Section IV</a:t>
            </a:r>
          </a:p>
        </p:txBody>
      </p:sp>
      <p:sp>
        <p:nvSpPr>
          <p:cNvPr id="224" name="Chess image similarity search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Chess image similarity search</a:t>
            </a:r>
          </a:p>
        </p:txBody>
      </p:sp>
      <p:pic>
        <p:nvPicPr>
          <p:cNvPr id="225" name="Immagine 10" descr="Immagin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8519" y="12488336"/>
            <a:ext cx="2869925" cy="117872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F5CD56-0239-80C4-38AB-226B48E2EDEC}"/>
              </a:ext>
            </a:extLst>
          </p:cNvPr>
          <p:cNvSpPr txBox="1"/>
          <p:nvPr/>
        </p:nvSpPr>
        <p:spPr>
          <a:xfrm>
            <a:off x="1371202" y="6743689"/>
            <a:ext cx="4870571" cy="7571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it-IT" sz="2400" b="0" i="1" u="none" strike="noStrike" baseline="0" dirty="0" err="1">
                <a:latin typeface="NimbusRomNo9L-ReguItal"/>
              </a:rPr>
              <a:t>Positional</a:t>
            </a:r>
            <a:r>
              <a:rPr lang="it-IT" sz="2400" b="0" i="1" u="none" strike="noStrike" baseline="0" dirty="0">
                <a:latin typeface="NimbusRomNo9L-ReguItal"/>
              </a:rPr>
              <a:t> one-hot </a:t>
            </a:r>
            <a:r>
              <a:rPr lang="it-IT" sz="2400" b="0" i="1" u="none" strike="noStrike" baseline="0" dirty="0" err="1">
                <a:latin typeface="NimbusRomNo9L-ReguItal"/>
              </a:rPr>
              <a:t>binary</a:t>
            </a:r>
            <a:r>
              <a:rPr lang="it-IT" sz="2400" b="0" i="1" u="none" strike="noStrike" baseline="0" dirty="0">
                <a:latin typeface="NimbusRomNo9L-ReguItal"/>
              </a:rPr>
              <a:t> </a:t>
            </a:r>
            <a:r>
              <a:rPr lang="it-IT" sz="2400" b="0" i="1" u="none" strike="noStrike" baseline="0" dirty="0" err="1">
                <a:latin typeface="NimbusRomNo9L-ReguItal"/>
              </a:rPr>
              <a:t>embedding</a:t>
            </a:r>
            <a:r>
              <a:rPr lang="it-IT" sz="2400" b="0" i="1" u="none" strike="noStrike" baseline="0" dirty="0">
                <a:latin typeface="NimbusRomNo9L-ReguItal"/>
              </a:rPr>
              <a:t> for </a:t>
            </a:r>
            <a:r>
              <a:rPr lang="it-IT" sz="2400" b="0" i="1" u="none" strike="noStrike" baseline="0" dirty="0" err="1">
                <a:latin typeface="NimbusRomNo9L-ReguItal"/>
              </a:rPr>
              <a:t>each</a:t>
            </a:r>
            <a:r>
              <a:rPr lang="it-IT" sz="2400" b="0" i="1" u="none" strike="noStrike" baseline="0" dirty="0">
                <a:latin typeface="NimbusRomNo9L-ReguItal"/>
              </a:rPr>
              <a:t> </a:t>
            </a:r>
            <a:r>
              <a:rPr lang="it-IT" sz="2400" b="0" i="1" u="none" strike="noStrike" baseline="0" dirty="0" err="1">
                <a:latin typeface="NimbusRomNo9L-ReguItal"/>
              </a:rPr>
              <a:t>chessboard</a:t>
            </a:r>
            <a:r>
              <a:rPr lang="it-IT" sz="2400" b="0" i="1" u="none" strike="noStrike" baseline="0" dirty="0">
                <a:latin typeface="NimbusRomNo9L-ReguItal"/>
              </a:rPr>
              <a:t> </a:t>
            </a:r>
            <a:r>
              <a:rPr lang="it-IT" sz="2400" b="0" i="1" u="none" strike="noStrike" baseline="0" dirty="0" err="1">
                <a:latin typeface="NimbusRomNo9L-ReguItal"/>
              </a:rPr>
              <a:t>cell</a:t>
            </a:r>
            <a:endParaRPr lang="it-IT" sz="2400" b="0" i="1" u="none" strike="noStrike" baseline="0" dirty="0">
              <a:latin typeface="NimbusRomNo9L-ReguIt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173E70-877A-61D8-4F98-1428ACE1F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678" y="5554098"/>
            <a:ext cx="4324350" cy="9810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76200B-8C3E-A7CE-7C0A-C257F11F64DA}"/>
              </a:ext>
            </a:extLst>
          </p:cNvPr>
          <p:cNvSpPr txBox="1"/>
          <p:nvPr/>
        </p:nvSpPr>
        <p:spPr>
          <a:xfrm>
            <a:off x="1967548" y="7709335"/>
            <a:ext cx="3677878" cy="4247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2400" i="1" dirty="0">
                <a:latin typeface="NimbusRomNo9L-ReguItal"/>
              </a:rPr>
              <a:t>64 </a:t>
            </a:r>
            <a:r>
              <a:rPr lang="it-IT" sz="2400" i="1" dirty="0" err="1">
                <a:latin typeface="NimbusRomNo9L-ReguItal"/>
              </a:rPr>
              <a:t>cells</a:t>
            </a:r>
            <a:r>
              <a:rPr lang="it-IT" sz="2400" i="1" dirty="0">
                <a:latin typeface="NimbusRomNo9L-ReguItal"/>
              </a:rPr>
              <a:t> * 12 bits = 96 bytes</a:t>
            </a:r>
            <a:endParaRPr lang="it-IT" sz="2400" dirty="0"/>
          </a:p>
        </p:txBody>
      </p:sp>
      <p:sp>
        <p:nvSpPr>
          <p:cNvPr id="14" name="YOLO">
            <a:extLst>
              <a:ext uri="{FF2B5EF4-FFF2-40B4-BE49-F238E27FC236}">
                <a16:creationId xmlns:a16="http://schemas.microsoft.com/office/drawing/2014/main" id="{4B9B2292-8298-5B98-6C54-9279C034CBBD}"/>
              </a:ext>
            </a:extLst>
          </p:cNvPr>
          <p:cNvSpPr txBox="1"/>
          <p:nvPr/>
        </p:nvSpPr>
        <p:spPr>
          <a:xfrm>
            <a:off x="1371202" y="4775394"/>
            <a:ext cx="2180413" cy="5180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>
              <a:defRPr b="1"/>
            </a:lvl1pPr>
          </a:lstStyle>
          <a:p>
            <a:r>
              <a:rPr lang="en-US" sz="3000" dirty="0"/>
              <a:t>Embedding</a:t>
            </a:r>
            <a:endParaRPr sz="3000" dirty="0"/>
          </a:p>
        </p:txBody>
      </p:sp>
      <p:sp>
        <p:nvSpPr>
          <p:cNvPr id="15" name="YOLO">
            <a:extLst>
              <a:ext uri="{FF2B5EF4-FFF2-40B4-BE49-F238E27FC236}">
                <a16:creationId xmlns:a16="http://schemas.microsoft.com/office/drawing/2014/main" id="{61FE9C39-18C8-AD8F-C64C-E1BA11CD2CA5}"/>
              </a:ext>
            </a:extLst>
          </p:cNvPr>
          <p:cNvSpPr txBox="1"/>
          <p:nvPr/>
        </p:nvSpPr>
        <p:spPr>
          <a:xfrm>
            <a:off x="1371202" y="9130302"/>
            <a:ext cx="3432661" cy="5180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>
              <a:defRPr b="1"/>
            </a:lvl1pPr>
          </a:lstStyle>
          <a:p>
            <a:r>
              <a:rPr lang="en-US" sz="3000" dirty="0"/>
              <a:t>Distance function</a:t>
            </a:r>
            <a:endParaRPr sz="3000" dirty="0"/>
          </a:p>
        </p:txBody>
      </p:sp>
      <p:sp>
        <p:nvSpPr>
          <p:cNvPr id="20" name="YOLO">
            <a:extLst>
              <a:ext uri="{FF2B5EF4-FFF2-40B4-BE49-F238E27FC236}">
                <a16:creationId xmlns:a16="http://schemas.microsoft.com/office/drawing/2014/main" id="{282E7DFA-82ED-49D0-471A-CB93883856E6}"/>
              </a:ext>
            </a:extLst>
          </p:cNvPr>
          <p:cNvSpPr txBox="1"/>
          <p:nvPr/>
        </p:nvSpPr>
        <p:spPr>
          <a:xfrm>
            <a:off x="1371202" y="9763550"/>
            <a:ext cx="6364543" cy="5180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>
              <a:defRPr b="1"/>
            </a:lvl1pPr>
          </a:lstStyle>
          <a:p>
            <a:r>
              <a:rPr lang="en-US" sz="3000" b="0" dirty="0"/>
              <a:t>Hamming Distance HNSW indexing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1AED20-1F53-37CE-F26F-1452CB4C92EC}"/>
              </a:ext>
            </a:extLst>
          </p:cNvPr>
          <p:cNvSpPr/>
          <p:nvPr/>
        </p:nvSpPr>
        <p:spPr>
          <a:xfrm>
            <a:off x="7541248" y="5140692"/>
            <a:ext cx="2434640" cy="1087477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Detected chessboard</a:t>
            </a:r>
            <a:endParaRPr kumimoji="0" lang="it-IT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C715BA-1F3B-FC5F-3E5F-C9EC368E7070}"/>
              </a:ext>
            </a:extLst>
          </p:cNvPr>
          <p:cNvSpPr/>
          <p:nvPr/>
        </p:nvSpPr>
        <p:spPr>
          <a:xfrm>
            <a:off x="10645823" y="7787945"/>
            <a:ext cx="2434641" cy="1579920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Chessboard games database</a:t>
            </a:r>
            <a:endParaRPr kumimoji="0" lang="it-IT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F9ADAA-3EB9-2DA0-1E98-0C29C61C0414}"/>
              </a:ext>
            </a:extLst>
          </p:cNvPr>
          <p:cNvSpPr/>
          <p:nvPr/>
        </p:nvSpPr>
        <p:spPr>
          <a:xfrm>
            <a:off x="13801021" y="6402590"/>
            <a:ext cx="2434640" cy="1087477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Distance calculation</a:t>
            </a:r>
            <a:endParaRPr kumimoji="0" lang="it-IT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5C3262-B5A1-7C24-D0E9-B110CA8ABFF1}"/>
              </a:ext>
            </a:extLst>
          </p:cNvPr>
          <p:cNvSpPr/>
          <p:nvPr/>
        </p:nvSpPr>
        <p:spPr>
          <a:xfrm>
            <a:off x="16956218" y="6648810"/>
            <a:ext cx="2434640" cy="595035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Ranking</a:t>
            </a:r>
            <a:endParaRPr kumimoji="0" lang="it-IT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9020B4B-3043-9A32-F9FB-80BAEA432D17}"/>
              </a:ext>
            </a:extLst>
          </p:cNvPr>
          <p:cNvSpPr/>
          <p:nvPr/>
        </p:nvSpPr>
        <p:spPr>
          <a:xfrm>
            <a:off x="10645824" y="5386913"/>
            <a:ext cx="2434640" cy="595035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Embedding</a:t>
            </a:r>
            <a:endParaRPr kumimoji="0" lang="it-IT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7D50EAD8-E1BF-7FCA-30CD-9AC08FDA68C2}"/>
              </a:ext>
            </a:extLst>
          </p:cNvPr>
          <p:cNvCxnSpPr>
            <a:cxnSpLocks/>
            <a:stCxn id="25" idx="3"/>
            <a:endCxn id="23" idx="1"/>
          </p:cNvCxnSpPr>
          <p:nvPr/>
        </p:nvCxnSpPr>
        <p:spPr>
          <a:xfrm>
            <a:off x="13080464" y="5684431"/>
            <a:ext cx="720557" cy="1261898"/>
          </a:xfrm>
          <a:prstGeom prst="bentConnector3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393B106C-8F32-13BB-8A9A-13C730C91C9E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 flipV="1">
            <a:off x="13080464" y="6946329"/>
            <a:ext cx="720557" cy="1631576"/>
          </a:xfrm>
          <a:prstGeom prst="bentConnector3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59E796F-59F1-0BFB-5CE1-90F22733A3A4}"/>
              </a:ext>
            </a:extLst>
          </p:cNvPr>
          <p:cNvCxnSpPr>
            <a:cxnSpLocks/>
            <a:stCxn id="21" idx="3"/>
            <a:endCxn id="25" idx="1"/>
          </p:cNvCxnSpPr>
          <p:nvPr/>
        </p:nvCxnSpPr>
        <p:spPr>
          <a:xfrm>
            <a:off x="9975888" y="5684431"/>
            <a:ext cx="669936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B8A57BA-C79E-FC29-B239-80D935222161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16235661" y="6946328"/>
            <a:ext cx="720557" cy="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BD4435EE-C830-2A42-0A9B-58997F95ECF4}"/>
              </a:ext>
            </a:extLst>
          </p:cNvPr>
          <p:cNvSpPr/>
          <p:nvPr/>
        </p:nvSpPr>
        <p:spPr>
          <a:xfrm>
            <a:off x="20005397" y="6402588"/>
            <a:ext cx="2869925" cy="1087477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Similar configurations</a:t>
            </a:r>
            <a:endParaRPr kumimoji="0" lang="it-IT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F3F1167-9DDE-4DC3-BE84-E259682A4261}"/>
              </a:ext>
            </a:extLst>
          </p:cNvPr>
          <p:cNvCxnSpPr>
            <a:cxnSpLocks/>
            <a:stCxn id="24" idx="3"/>
            <a:endCxn id="49" idx="1"/>
          </p:cNvCxnSpPr>
          <p:nvPr/>
        </p:nvCxnSpPr>
        <p:spPr>
          <a:xfrm flipV="1">
            <a:off x="19390858" y="6946327"/>
            <a:ext cx="614539" cy="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BB0D5E2-2028-1262-7C02-23C60C1C4C29}"/>
              </a:ext>
            </a:extLst>
          </p:cNvPr>
          <p:cNvSpPr txBox="1"/>
          <p:nvPr/>
        </p:nvSpPr>
        <p:spPr>
          <a:xfrm>
            <a:off x="10212851" y="9627437"/>
            <a:ext cx="3588170" cy="4247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it-IT" sz="2400" b="0" i="1" u="none" strike="noStrike" baseline="0" dirty="0" err="1">
                <a:latin typeface="NimbusRomNo9L-ReguItal"/>
              </a:rPr>
              <a:t>Embedding</a:t>
            </a:r>
            <a:r>
              <a:rPr lang="it-IT" sz="2400" b="0" i="1" u="none" strike="noStrike" baseline="0" dirty="0">
                <a:latin typeface="NimbusRomNo9L-ReguItal"/>
              </a:rPr>
              <a:t> </a:t>
            </a:r>
            <a:r>
              <a:rPr lang="it-IT" sz="2400" b="0" i="1" u="none" strike="noStrike" baseline="0" dirty="0" err="1">
                <a:latin typeface="NimbusRomNo9L-ReguItal"/>
              </a:rPr>
              <a:t>pre-calculated</a:t>
            </a:r>
            <a:endParaRPr lang="it-IT" sz="2400" i="1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A0B2356F-3D0B-C735-B5AF-090D37E43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1408" y="10769238"/>
            <a:ext cx="3432661" cy="138198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Conclu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Conclusion</a:t>
            </a:r>
          </a:p>
        </p:txBody>
      </p:sp>
      <p:pic>
        <p:nvPicPr>
          <p:cNvPr id="228" name="Immagine 10" descr="Immagin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8518" y="12488336"/>
            <a:ext cx="2869926" cy="1178719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ection I - Detecting chessboard corners and cell boundaries…">
            <a:extLst>
              <a:ext uri="{FF2B5EF4-FFF2-40B4-BE49-F238E27FC236}">
                <a16:creationId xmlns:a16="http://schemas.microsoft.com/office/drawing/2014/main" id="{91F137F9-3E34-AFAC-F4C4-4BDB6BCE2B5B}"/>
              </a:ext>
            </a:extLst>
          </p:cNvPr>
          <p:cNvSpPr txBox="1">
            <a:spLocks/>
          </p:cNvSpPr>
          <p:nvPr/>
        </p:nvSpPr>
        <p:spPr>
          <a:xfrm>
            <a:off x="1206499" y="4453228"/>
            <a:ext cx="21971001" cy="4809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609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endParaRPr lang="it-IT" dirty="0"/>
          </a:p>
        </p:txBody>
      </p:sp>
      <p:sp>
        <p:nvSpPr>
          <p:cNvPr id="5" name="Section I - Detecting chessboard corners and cell boundaries…">
            <a:extLst>
              <a:ext uri="{FF2B5EF4-FFF2-40B4-BE49-F238E27FC236}">
                <a16:creationId xmlns:a16="http://schemas.microsoft.com/office/drawing/2014/main" id="{C033F299-6117-6035-FE85-2178FB3C4951}"/>
              </a:ext>
            </a:extLst>
          </p:cNvPr>
          <p:cNvSpPr txBox="1">
            <a:spLocks/>
          </p:cNvSpPr>
          <p:nvPr/>
        </p:nvSpPr>
        <p:spPr>
          <a:xfrm>
            <a:off x="1716708" y="3590087"/>
            <a:ext cx="15140057" cy="17582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609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US" sz="3200" dirty="0"/>
              <a:t>Final chessboard detection: </a:t>
            </a:r>
            <a:r>
              <a:rPr lang="en-US" sz="3200" b="1" dirty="0"/>
              <a:t>~92% accuracy</a:t>
            </a:r>
            <a:endParaRPr lang="en-US" sz="3200" dirty="0"/>
          </a:p>
          <a:p>
            <a:pPr hangingPunct="1"/>
            <a:r>
              <a:rPr lang="en-US" sz="3200" dirty="0"/>
              <a:t>Piece detection: ~</a:t>
            </a:r>
            <a:r>
              <a:rPr lang="en-US" sz="3200" b="1" dirty="0"/>
              <a:t>92% accuracy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A84221-453B-B62B-E930-BAC04D94D6E9}"/>
              </a:ext>
            </a:extLst>
          </p:cNvPr>
          <p:cNvSpPr txBox="1"/>
          <p:nvPr/>
        </p:nvSpPr>
        <p:spPr>
          <a:xfrm>
            <a:off x="1358899" y="2553228"/>
            <a:ext cx="12192000" cy="7571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hangingPunct="1"/>
            <a:r>
              <a:rPr lang="en-US" dirty="0"/>
              <a:t>Key 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DD955F-8677-1ED6-3DD1-ED28CF5EA80F}"/>
              </a:ext>
            </a:extLst>
          </p:cNvPr>
          <p:cNvSpPr txBox="1"/>
          <p:nvPr/>
        </p:nvSpPr>
        <p:spPr>
          <a:xfrm>
            <a:off x="1358899" y="5628035"/>
            <a:ext cx="12192000" cy="7571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hangingPunct="1"/>
            <a:r>
              <a:rPr lang="en-US" dirty="0"/>
              <a:t>Limitations</a:t>
            </a:r>
          </a:p>
        </p:txBody>
      </p:sp>
      <p:sp>
        <p:nvSpPr>
          <p:cNvPr id="9" name="Section I - Detecting chessboard corners and cell boundaries…">
            <a:extLst>
              <a:ext uri="{FF2B5EF4-FFF2-40B4-BE49-F238E27FC236}">
                <a16:creationId xmlns:a16="http://schemas.microsoft.com/office/drawing/2014/main" id="{869DEFBF-2EC7-D822-C886-E4B2611927A0}"/>
              </a:ext>
            </a:extLst>
          </p:cNvPr>
          <p:cNvSpPr txBox="1">
            <a:spLocks/>
          </p:cNvSpPr>
          <p:nvPr/>
        </p:nvSpPr>
        <p:spPr>
          <a:xfrm>
            <a:off x="1610691" y="6650465"/>
            <a:ext cx="15140057" cy="17582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609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US" sz="3200" dirty="0"/>
              <a:t>Chessboard must be fully visible and centered.</a:t>
            </a:r>
          </a:p>
          <a:p>
            <a:pPr hangingPunct="1"/>
            <a:r>
              <a:rPr lang="en-US" sz="3200" dirty="0"/>
              <a:t>Generalization to all board/piece designs is still a challenge.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A8BB88-4D71-0A22-3715-2A573B0FDDE1}"/>
              </a:ext>
            </a:extLst>
          </p:cNvPr>
          <p:cNvSpPr txBox="1"/>
          <p:nvPr/>
        </p:nvSpPr>
        <p:spPr>
          <a:xfrm>
            <a:off x="1358899" y="8710061"/>
            <a:ext cx="12192000" cy="7571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hangingPunct="1"/>
            <a:r>
              <a:rPr lang="en-US" dirty="0"/>
              <a:t>Future works</a:t>
            </a:r>
          </a:p>
        </p:txBody>
      </p:sp>
      <p:sp>
        <p:nvSpPr>
          <p:cNvPr id="11" name="Section I - Detecting chessboard corners and cell boundaries…">
            <a:extLst>
              <a:ext uri="{FF2B5EF4-FFF2-40B4-BE49-F238E27FC236}">
                <a16:creationId xmlns:a16="http://schemas.microsoft.com/office/drawing/2014/main" id="{F917B431-2D51-5F24-6C9A-308DA1FBC071}"/>
              </a:ext>
            </a:extLst>
          </p:cNvPr>
          <p:cNvSpPr txBox="1">
            <a:spLocks/>
          </p:cNvSpPr>
          <p:nvPr/>
        </p:nvSpPr>
        <p:spPr>
          <a:xfrm>
            <a:off x="1716708" y="9623784"/>
            <a:ext cx="18280822" cy="2488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609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US" sz="3200" dirty="0"/>
              <a:t>Improve robustness with occlusion handling.</a:t>
            </a:r>
          </a:p>
          <a:p>
            <a:pPr hangingPunct="1"/>
            <a:r>
              <a:rPr lang="en-US" sz="3200" dirty="0"/>
              <a:t>3D reconstruction techniques.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Luca Villani…"/>
          <p:cNvSpPr txBox="1">
            <a:spLocks noGrp="1"/>
          </p:cNvSpPr>
          <p:nvPr>
            <p:ph type="body" idx="21"/>
          </p:nvPr>
        </p:nvSpPr>
        <p:spPr>
          <a:xfrm>
            <a:off x="4299643" y="11509020"/>
            <a:ext cx="2966141" cy="12970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algn="ctr"/>
            <a:r>
              <a:t>Luca Villani</a:t>
            </a:r>
          </a:p>
          <a:p>
            <a:pPr algn="ctr"/>
            <a:r>
              <a:t>Matr. 200412</a:t>
            </a:r>
          </a:p>
        </p:txBody>
      </p:sp>
      <p:sp>
        <p:nvSpPr>
          <p:cNvPr id="231" name="Chessy3D"/>
          <p:cNvSpPr txBox="1">
            <a:spLocks noGrp="1"/>
          </p:cNvSpPr>
          <p:nvPr>
            <p:ph type="ctrTitle"/>
          </p:nvPr>
        </p:nvSpPr>
        <p:spPr>
          <a:xfrm>
            <a:off x="1209075" y="4872765"/>
            <a:ext cx="21971004" cy="4648201"/>
          </a:xfrm>
          <a:prstGeom prst="rect">
            <a:avLst/>
          </a:prstGeom>
        </p:spPr>
        <p:txBody>
          <a:bodyPr/>
          <a:lstStyle/>
          <a:p>
            <a:r>
              <a:rPr dirty="0"/>
              <a:t>Chessy3D</a:t>
            </a:r>
          </a:p>
        </p:txBody>
      </p:sp>
      <p:sp>
        <p:nvSpPr>
          <p:cNvPr id="232" name="Computer Vision and Cognitive Systems Project"/>
          <p:cNvSpPr txBox="1">
            <a:spLocks noGrp="1"/>
          </p:cNvSpPr>
          <p:nvPr>
            <p:ph type="subTitle" sz="quarter" idx="1"/>
          </p:nvPr>
        </p:nvSpPr>
        <p:spPr>
          <a:xfrm>
            <a:off x="1203921" y="9520965"/>
            <a:ext cx="21971001" cy="1905001"/>
          </a:xfrm>
          <a:prstGeom prst="rect">
            <a:avLst/>
          </a:prstGeom>
        </p:spPr>
        <p:txBody>
          <a:bodyPr/>
          <a:lstStyle/>
          <a:p>
            <a:r>
              <a:rPr dirty="0"/>
              <a:t>Computer Vision and Cognitive Systems Project</a:t>
            </a:r>
          </a:p>
        </p:txBody>
      </p:sp>
      <p:sp>
        <p:nvSpPr>
          <p:cNvPr id="233" name="Alessandro Mezzogori…"/>
          <p:cNvSpPr txBox="1"/>
          <p:nvPr/>
        </p:nvSpPr>
        <p:spPr>
          <a:xfrm>
            <a:off x="7849963" y="11509020"/>
            <a:ext cx="5304611" cy="1297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600" b="1"/>
            </a:pPr>
            <a:r>
              <a:t>Alessandro Mezzogori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  <a:defRPr sz="3600" b="1"/>
            </a:pPr>
            <a:r>
              <a:t>Matr. 200559</a:t>
            </a:r>
          </a:p>
        </p:txBody>
      </p:sp>
      <p:sp>
        <p:nvSpPr>
          <p:cNvPr id="234" name="Davide Della Casa Venturelli…"/>
          <p:cNvSpPr txBox="1"/>
          <p:nvPr/>
        </p:nvSpPr>
        <p:spPr>
          <a:xfrm>
            <a:off x="13738753" y="11509020"/>
            <a:ext cx="6345604" cy="1297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600" b="1"/>
            </a:pPr>
            <a:r>
              <a:t>Davide Della Casa Venturelli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  <a:defRPr sz="3600" b="1"/>
            </a:pPr>
            <a:r>
              <a:t>Matr. 201103</a:t>
            </a:r>
          </a:p>
        </p:txBody>
      </p:sp>
      <p:sp>
        <p:nvSpPr>
          <p:cNvPr id="235" name="Thanks for your attention."/>
          <p:cNvSpPr txBox="1"/>
          <p:nvPr/>
        </p:nvSpPr>
        <p:spPr>
          <a:xfrm>
            <a:off x="1206498" y="1673750"/>
            <a:ext cx="21971004" cy="464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11600" b="1" spc="-232"/>
            </a:lvl1pPr>
          </a:lstStyle>
          <a:p>
            <a:r>
              <a:rPr dirty="0"/>
              <a:t>Thanks for your attention.</a:t>
            </a:r>
          </a:p>
        </p:txBody>
      </p:sp>
      <p:pic>
        <p:nvPicPr>
          <p:cNvPr id="236" name="Immagine 10" descr="Immagin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8519" y="12488336"/>
            <a:ext cx="2869925" cy="11787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353</Words>
  <Application>Microsoft Office PowerPoint</Application>
  <PresentationFormat>Custom</PresentationFormat>
  <Paragraphs>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Helvetica Neue</vt:lpstr>
      <vt:lpstr>Helvetica Neue Medium</vt:lpstr>
      <vt:lpstr>NimbusRomNo9L-ReguItal</vt:lpstr>
      <vt:lpstr>21_BasicWhite</vt:lpstr>
      <vt:lpstr>Chessy3D</vt:lpstr>
      <vt:lpstr>Summary</vt:lpstr>
      <vt:lpstr>Section I</vt:lpstr>
      <vt:lpstr>Section I</vt:lpstr>
      <vt:lpstr>Section II</vt:lpstr>
      <vt:lpstr>Section III</vt:lpstr>
      <vt:lpstr>Section IV</vt:lpstr>
      <vt:lpstr>Conclusion</vt:lpstr>
      <vt:lpstr>Chessy3D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davide della casa venturelli</cp:lastModifiedBy>
  <cp:revision>24</cp:revision>
  <dcterms:modified xsi:type="dcterms:W3CDTF">2025-07-23T18:22:00Z</dcterms:modified>
</cp:coreProperties>
</file>